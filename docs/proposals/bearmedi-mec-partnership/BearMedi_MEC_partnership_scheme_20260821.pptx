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表紙。本日の論点は「契約形態」と「費用設計」の2点。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①は再委託型。②は3者契約型で、契約上は名目フロー、実務はクリニック許諾のもとBM→MECで直接授受。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条件1は非常勤契約の仲介が職業紹介に該当し得るための対応。契約書化の際は社労士・弁護士の確認を推奨。データ直接授受はクリニックの書面許諾を取得しておくと安全。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金額はすべて税抜想定。最低保証30,000円/回はMEC3割・BM7割で配分。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843016"/>
            <a:ext cx="201168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5843016"/>
            <a:ext cx="164592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989320"/>
            <a:ext cx="146304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5989320"/>
            <a:ext cx="91440" cy="18288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3504" y="5120640"/>
            <a:ext cx="109728" cy="105156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5120640"/>
            <a:ext cx="128016" cy="117957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841248" y="5989320"/>
            <a:ext cx="109728" cy="31089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5989320"/>
            <a:ext cx="274320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225296" y="5715000"/>
            <a:ext cx="237744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5715000"/>
            <a:ext cx="256032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19072" y="5989320"/>
            <a:ext cx="749808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2468880" y="5843016"/>
            <a:ext cx="201168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70048" y="5843016"/>
            <a:ext cx="164592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5989320"/>
            <a:ext cx="146304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80944" y="5989320"/>
            <a:ext cx="91440" cy="18288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3072384" y="5120640"/>
            <a:ext cx="109728" cy="105156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5120640"/>
            <a:ext cx="128016" cy="117957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310128" y="5989320"/>
            <a:ext cx="109728" cy="31089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19856" y="5989320"/>
            <a:ext cx="274320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694176" y="5715000"/>
            <a:ext cx="237744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5715000"/>
            <a:ext cx="256032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87952" y="5989320"/>
            <a:ext cx="749808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937760" y="5843016"/>
            <a:ext cx="201168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38928" y="5843016"/>
            <a:ext cx="164592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0" y="5989320"/>
            <a:ext cx="146304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5989320"/>
            <a:ext cx="91440" cy="18288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5541264" y="5120640"/>
            <a:ext cx="109728" cy="105156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50992" y="5120640"/>
            <a:ext cx="128016" cy="117957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779008" y="5989320"/>
            <a:ext cx="109728" cy="31089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88736" y="5989320"/>
            <a:ext cx="274320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6163056" y="5715000"/>
            <a:ext cx="237744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5715000"/>
            <a:ext cx="256032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56832" y="5989320"/>
            <a:ext cx="749808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406640" y="5843016"/>
            <a:ext cx="201168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07808" y="5843016"/>
            <a:ext cx="164592" cy="146304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5989320"/>
            <a:ext cx="146304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18704" y="5989320"/>
            <a:ext cx="91440" cy="18288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8010144" y="5120640"/>
            <a:ext cx="109728" cy="105156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9872" y="5120640"/>
            <a:ext cx="128016" cy="117957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8247888" y="5989320"/>
            <a:ext cx="109728" cy="310896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57616" y="5989320"/>
            <a:ext cx="274320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631936" y="5715000"/>
            <a:ext cx="237744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5715000"/>
            <a:ext cx="256032" cy="27432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25712" y="5989320"/>
            <a:ext cx="749808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38160" y="5989320"/>
            <a:ext cx="1737360" cy="0"/>
          </a:xfrm>
          <a:prstGeom prst="line">
            <a:avLst/>
          </a:prstGeom>
          <a:noFill/>
          <a:ln w="28575">
            <a:solidFill>
              <a:srgbClr val="D6EA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0"/>
            <a:ext cx="813816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1298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A9D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MEDICAL ECHO CONSULTING  ×  BEARMEDI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31520" y="171907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協業スキームのご提案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731520" y="272491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5A7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契約形態と費用設計の整理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731520" y="37947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161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2026年8月21日　打ち合わせ議事整理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161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株式会社BearMedi　安藤様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51616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Medical Echo Consulting合同会社（MEC）　畠山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68680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本日の論点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86800" y="260604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281160" y="258775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協業契約の形態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9281160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2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再委託型 ／ 3者契約型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686800" y="393192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9281160" y="3913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費用設計と資金の流れ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9281160" y="4389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C2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クリニック→MEC→BM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985455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× BearMedi Confidential　|　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契約形態：2つのパターン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5349240" cy="2286000"/>
          </a:xfrm>
          <a:prstGeom prst="roundRect">
            <a:avLst>
              <a:gd name="adj" fmla="val 1200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71600"/>
            <a:ext cx="2331720" cy="36576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パターン①　再委託型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130552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3055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80360" y="2130552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E4F2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13055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30552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E7EDF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3055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04288" y="2368296"/>
            <a:ext cx="512064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87368" y="2368296"/>
            <a:ext cx="466344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57400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業務委託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22192" y="1865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再委託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22960" y="279806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超音波検査支援＋オンラインコンサルティング契約は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 ↔ MEC 間で締結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170432"/>
            <a:ext cx="5349240" cy="2286000"/>
          </a:xfrm>
          <a:prstGeom prst="roundRect">
            <a:avLst>
              <a:gd name="adj" fmla="val 1200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371600"/>
            <a:ext cx="2514600" cy="365760"/>
          </a:xfrm>
          <a:prstGeom prst="roundRect">
            <a:avLst>
              <a:gd name="adj" fmla="val 25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371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パターン②　3者契約型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2066544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206654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9832" y="206654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8A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2066544"/>
            <a:ext cx="822960" cy="420624"/>
          </a:xfrm>
          <a:prstGeom prst="roundRect">
            <a:avLst>
              <a:gd name="adj" fmla="val 17391"/>
            </a:avLst>
          </a:prstGeom>
          <a:solidFill>
            <a:srgbClr val="E4F2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1584" y="206654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52560" y="206654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230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コンサルティング契約</a:t>
            </a:r>
            <a:endParaRPr lang="en-US" sz="9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230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（心エコー・心電図読影を含む専門コンサル）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2816352"/>
            <a:ext cx="1188720" cy="420624"/>
          </a:xfrm>
          <a:prstGeom prst="roundRect">
            <a:avLst>
              <a:gd name="adj" fmla="val 17391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8163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99832" y="28163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D8A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⇔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01584" y="2816352"/>
            <a:ext cx="822960" cy="420624"/>
          </a:xfrm>
          <a:prstGeom prst="roundRect">
            <a:avLst>
              <a:gd name="adj" fmla="val 17391"/>
            </a:avLst>
          </a:prstGeom>
          <a:solidFill>
            <a:srgbClr val="E7EDF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281635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52560" y="281635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2230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検査技師の非常勤契約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3712464"/>
            <a:ext cx="11109960" cy="2286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895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②のデータフロー（実務上）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366760" y="4059936"/>
            <a:ext cx="384048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51392" y="393192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契約・納品の流れ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149840" y="4059936"/>
            <a:ext cx="384048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0634472" y="3931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データの流れ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" y="4553712"/>
            <a:ext cx="7132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55371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名目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737360" y="4553712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E7EDF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737360" y="455371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66160" y="4553712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6160" y="45537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852160" y="4553712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E4F2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52160" y="455371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80960" y="4553712"/>
            <a:ext cx="1371600" cy="420624"/>
          </a:xfrm>
          <a:prstGeom prst="roundRect">
            <a:avLst>
              <a:gd name="adj" fmla="val 17391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80960" y="455371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697480" y="4764024"/>
            <a:ext cx="82296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2560320" y="4498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納品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983480" y="4764024"/>
            <a:ext cx="82296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4846320" y="4498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読影依頼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12280" y="4764024"/>
            <a:ext cx="82296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54" name="Text 52"/>
          <p:cNvSpPr/>
          <p:nvPr/>
        </p:nvSpPr>
        <p:spPr>
          <a:xfrm>
            <a:off x="6675120" y="4498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完成品納品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960" y="5312664"/>
            <a:ext cx="713232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531266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実務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737360" y="5312664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E7EDF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737360" y="53126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566160" y="5312664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E4F2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566160" y="531266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697480" y="5522976"/>
            <a:ext cx="822960" cy="0"/>
          </a:xfrm>
          <a:prstGeom prst="line">
            <a:avLst/>
          </a:prstGeom>
          <a:noFill/>
          <a:ln w="19050">
            <a:solidFill>
              <a:srgbClr val="2A9D8F"/>
            </a:solidFill>
            <a:prstDash val="dash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2560320" y="52578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9D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直接共有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09160" y="536752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クリニック許諾のもと、エコー画像・動画＋仮レポートを直接授受（Google Drive / Dropbox 想定）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985455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× BearMedi Confidential　|　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3者契約の成立条件（MECからのご提案）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86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3者契約（パターン②）を採用する場合、以下3点のクリアを前提条件としてご提案します。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3520440" cy="3108960"/>
          </a:xfrm>
          <a:prstGeom prst="roundRect">
            <a:avLst>
              <a:gd name="adj" fmla="val 882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3D3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924812" y="2377440"/>
            <a:ext cx="768096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71116" y="2596896"/>
            <a:ext cx="475488" cy="0"/>
          </a:xfrm>
          <a:prstGeom prst="line">
            <a:avLst/>
          </a:prstGeom>
          <a:noFill/>
          <a:ln w="19050">
            <a:solidFill>
              <a:srgbClr val="A9BC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1116" y="2779776"/>
            <a:ext cx="475488" cy="0"/>
          </a:xfrm>
          <a:prstGeom prst="line">
            <a:avLst/>
          </a:prstGeom>
          <a:noFill/>
          <a:ln w="19050">
            <a:solidFill>
              <a:srgbClr val="A9BC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1116" y="2962656"/>
            <a:ext cx="292608" cy="0"/>
          </a:xfrm>
          <a:prstGeom prst="line">
            <a:avLst/>
          </a:prstGeom>
          <a:noFill/>
          <a:ln w="19050">
            <a:solidFill>
              <a:srgbClr val="A9BC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63724" y="2907792"/>
            <a:ext cx="329184" cy="329184"/>
          </a:xfrm>
          <a:prstGeom prst="ellipse">
            <a:avLst/>
          </a:prstGeom>
          <a:solidFill>
            <a:srgbClr val="E4F2E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6210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職業紹介資格の取得（BM）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782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クリニックとの非常勤契約仲介を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適法に行うための体制整備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536192"/>
            <a:ext cx="3520440" cy="3108960"/>
          </a:xfrm>
          <a:prstGeom prst="roundRect">
            <a:avLst>
              <a:gd name="adj" fmla="val 882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3D3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536692" y="2322576"/>
            <a:ext cx="1133856" cy="1133856"/>
          </a:xfrm>
          <a:prstGeom prst="ellipse">
            <a:avLst/>
          </a:prstGeom>
          <a:solidFill>
            <a:srgbClr val="FFFFFF"/>
          </a:solidFill>
          <a:ln w="762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6692" y="2322576"/>
            <a:ext cx="11338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36210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レベニューシェアへの同意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17720" y="405993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作業ごとの収益の </a:t>
            </a:r>
            <a:pPr algn="ctr"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30%</a:t>
            </a:r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MECへお支払い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536192"/>
            <a:ext cx="3520440" cy="3108960"/>
          </a:xfrm>
          <a:prstGeom prst="roundRect">
            <a:avLst>
              <a:gd name="adj" fmla="val 882"/>
            </a:avLst>
          </a:prstGeom>
          <a:solidFill>
            <a:srgbClr val="F5F8FA"/>
          </a:solidFill>
          <a:ln w="12700">
            <a:solidFill>
              <a:srgbClr val="DCE4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3D3D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86316" y="2359152"/>
            <a:ext cx="1024128" cy="102412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B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69196" y="2542032"/>
            <a:ext cx="658368" cy="658368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62102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非迂回・直接取引禁止条項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0" y="407822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MECを介さないクリニックとの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直接取引を契約上禁止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377440" y="5047488"/>
            <a:ext cx="7434072" cy="658368"/>
          </a:xfrm>
          <a:prstGeom prst="rightArrow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504748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3条件クリア　→　3者契約の締結へ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85455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× BearMedi Confidential　|　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費用設計と資金フロー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32688"/>
            <a:ext cx="11109960" cy="841248"/>
          </a:xfrm>
          <a:prstGeom prst="rect">
            <a:avLst/>
          </a:prstGeom>
          <a:solidFill>
            <a:srgbClr val="F1F5F8"/>
          </a:solidFill>
          <a:ln w="12700">
            <a:solidFill>
              <a:srgbClr val="E1E9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4241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前提（透析クリニックへの契約時に説明済み）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D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本サービスに目先の収益増は期待しない／中長期的な心血管イベントによる患者離脱リスクの低減と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D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専門医コンサルを、最小限の持ち出しで利用いただく（月により例外あり）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239572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EF1F4"/>
          </a:solidFill>
          <a:ln w="12700">
            <a:solidFill>
              <a:srgbClr val="C9D3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535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239572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4F2E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6F6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2395728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7EDF3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52560" y="2395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670048"/>
            <a:ext cx="182880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132320" y="2670048"/>
            <a:ext cx="1828800" cy="0"/>
          </a:xfrm>
          <a:prstGeom prst="line">
            <a:avLst/>
          </a:prstGeom>
          <a:noFill/>
          <a:ln w="19050">
            <a:solidFill>
              <a:srgbClr val="1B3A5C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74320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検査支援費／コンサルティング費／交通費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88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①時給8,000円相当　②レベシェア30%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32186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クリニック → MEC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5486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8862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項目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内容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検査支援費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作業件数から作業時間を見積もり、約12,000円/h で請求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コンサルティング費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月額固定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交通費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実費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最低保証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当日キャンセル・依頼僅少時　30,000円/回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413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最低保証の配分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194560" y="5449824"/>
            <a:ext cx="1152144" cy="23774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46704" y="5449824"/>
            <a:ext cx="2688336" cy="2377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4560" y="5449824"/>
            <a:ext cx="115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30%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346704" y="5449824"/>
            <a:ext cx="2688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BM 70%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0" y="3218688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→ BM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566160"/>
          <a:ext cx="5257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9319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契約形態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支払い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① 再委託型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時給8,000円相当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例：心エコー5件＋頸動脈1件＋下肢動脈2件＝3.5h → 28,000円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② 3者契約型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作業収益の レベシェア30% をMECへ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303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BMの作業単価は調整相談（保険収益50%設定を想定 → 30%上乗せ額での請求を検討）</a:t>
                      </a:r>
                      <a:endParaRPr lang="en-US" sz="9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7985455" y="63825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7B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 × BearMedi Confidential　|　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協業スキームのご提案</dc:title>
  <dc:subject>PptxGenJS Presentation</dc:subject>
  <dc:creator>Medical Echo Consulting LLC</dc:creator>
  <cp:lastModifiedBy>Medical Echo Consulting LLC</cp:lastModifiedBy>
  <cp:revision>1</cp:revision>
  <dcterms:created xsi:type="dcterms:W3CDTF">2026-08-21T03:02:16Z</dcterms:created>
  <dcterms:modified xsi:type="dcterms:W3CDTF">2026-08-21T03:02:16Z</dcterms:modified>
</cp:coreProperties>
</file>